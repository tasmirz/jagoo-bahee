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>
              <a:solidFill>
                <a:srgbClr val="2C6E9B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613</c:v>
                </c:pt>
                <c:pt idx="1">
                  <c:v>820</c:v>
                </c:pt>
                <c:pt idx="2">
                  <c:v>1753</c:v>
                </c:pt>
                <c:pt idx="3">
                  <c:v>2352</c:v>
                </c:pt>
                <c:pt idx="4">
                  <c:v>3355</c:v>
                </c:pt>
                <c:pt idx="5">
                  <c:v>3660</c:v>
                </c:pt>
                <c:pt idx="6">
                  <c:v>4125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p99</c:v>
                </c:pt>
              </c:strCache>
            </c:strRef>
          </c:tx>
          <c:spPr>
            <a:ln>
              <a:solidFill>
                <a:srgbClr val="A8465F"/>
              </a:solidFill>
              <a:prstDash val="dash"/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1104</c:v>
                </c:pt>
                <c:pt idx="1">
                  <c:v>2251</c:v>
                </c:pt>
                <c:pt idx="2">
                  <c:v>3341</c:v>
                </c:pt>
                <c:pt idx="3">
                  <c:v>3912</c:v>
                </c:pt>
                <c:pt idx="4">
                  <c:v>4913</c:v>
                </c:pt>
                <c:pt idx="5">
                  <c:v>5215</c:v>
                </c:pt>
                <c:pt idx="6">
                  <c:v>6115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hop 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6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latency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  <c:majorUnit val="2000.0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E9B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89611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3400" b="1" i="0">
                <a:solidFill>
                  <a:srgbClr val="1F2933"/>
                </a:solidFill>
                <a:latin typeface="Aptos"/>
              </a:defRPr>
            </a:pPr>
            <a:r>
              <a:t>Islands of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84124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400" b="0" i="0">
                <a:solidFill>
                  <a:srgbClr val="2C6E9B"/>
                </a:solidFill>
                <a:latin typeface="Aptos"/>
              </a:defRPr>
            </a:pPr>
            <a:r>
              <a:t>A censorship-resistant federated forum for national internet blackouts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54096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5B6770"/>
                </a:solidFill>
                <a:latin typeface="Aptos"/>
              </a:defRPr>
            </a:pPr>
            <a:r>
              <a:t>Signed public discussion across the IP paths that still exist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4672" y="3703320"/>
            <a:ext cx="5047488" cy="0"/>
          </a:xfrm>
          <a:prstGeom prst="line">
            <a:avLst/>
          </a:prstGeom>
          <a:ln w="381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4672" y="58978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300" b="1" i="0">
                <a:solidFill>
                  <a:srgbClr val="5B6770"/>
                </a:solidFill>
                <a:latin typeface="Aptos"/>
              </a:defRPr>
            </a:pPr>
            <a:r>
              <a:t>NSysS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99632"/>
            <a:ext cx="3657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200" b="0" i="0">
                <a:solidFill>
                  <a:srgbClr val="5B6770"/>
                </a:solidFill>
                <a:latin typeface="Aptos"/>
              </a:defRPr>
            </a:pPr>
            <a:r>
              <a:t>Cox’s Bazar, Bangladesh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A8465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When the outside internet disappears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17320"/>
            <a:ext cx="64465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300" b="1" i="0">
                <a:solidFill>
                  <a:srgbClr val="1F2933"/>
                </a:solidFill>
                <a:latin typeface="Aptos"/>
              </a:defRPr>
            </a:pPr>
            <a:r>
              <a:t>A public forum normally depends on distant platforms, identity providers and globally reachable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88920"/>
            <a:ext cx="475488" cy="475488"/>
          </a:xfrm>
          <a:prstGeom prst="round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77977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Traffic is throttled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118103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5B6770"/>
                </a:solidFill>
                <a:latin typeface="Aptos"/>
              </a:defRPr>
            </a:pPr>
            <a:r>
              <a:t>Messages become slow and unreliable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50976" y="3291839"/>
            <a:ext cx="0" cy="521209"/>
          </a:xfrm>
          <a:prstGeom prst="line">
            <a:avLst/>
          </a:prstGeom>
          <a:ln w="19050">
            <a:solidFill>
              <a:srgbClr val="A84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3813048"/>
            <a:ext cx="475488" cy="475488"/>
          </a:xfrm>
          <a:prstGeom prst="round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803904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Services are 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4142232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5B6770"/>
                </a:solidFill>
                <a:latin typeface="Aptos"/>
              </a:defRPr>
            </a:pPr>
            <a:r>
              <a:t>Circumvention still needs a path outside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4315968"/>
            <a:ext cx="0" cy="521208"/>
          </a:xfrm>
          <a:prstGeom prst="line">
            <a:avLst/>
          </a:prstGeom>
          <a:ln w="19050">
            <a:solidFill>
              <a:srgbClr val="A84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" y="4837176"/>
            <a:ext cx="475488" cy="475488"/>
          </a:xfrm>
          <a:prstGeom prst="round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828032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International transit is 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5166360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5B6770"/>
                </a:solidFill>
                <a:latin typeface="Aptos"/>
              </a:defRPr>
            </a:pPr>
            <a:r>
              <a:t>Domestic networks may survive as separate islands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508760"/>
            <a:ext cx="3886200" cy="2971800"/>
          </a:xfrm>
          <a:prstGeom prst="roundRect">
            <a:avLst/>
          </a:prstGeom>
          <a:solidFill>
            <a:srgbClr val="F3E8EB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708392" y="1627631"/>
            <a:ext cx="355701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A8465F"/>
                </a:solidFill>
                <a:latin typeface="Aptos"/>
              </a:defRPr>
            </a:pPr>
            <a:r>
              <a:t>The design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1984248"/>
            <a:ext cx="3557016" cy="2386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000" b="0" i="0">
                <a:solidFill>
                  <a:srgbClr val="1F2933"/>
                </a:solidFill>
                <a:latin typeface="Aptos"/>
              </a:defRPr>
            </a:pPr>
            <a:r>
              <a:t>Can independent domestic servers keep a readable, verifiable forum working across the remaining ISP links?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4828032"/>
            <a:ext cx="3657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1F2933"/>
                </a:solidFill>
                <a:latin typeface="Aptos"/>
              </a:defRPr>
            </a:pPr>
            <a:r>
              <a:t>Scope: surviving IP connectivity. This is not mesh or off-grid networking.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10332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850" b="0" i="0">
                <a:solidFill>
                  <a:srgbClr val="5B6770"/>
                </a:solidFill>
                <a:latin typeface="Aptos"/>
              </a:defRPr>
            </a:pPr>
            <a:r>
              <a:t>Sources: OONI (2025); Bischof et al. (2025); Telex (USENIX Security 2011).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3F8F7A"/>
                </a:solidFill>
                <a:latin typeface="Aptos"/>
              </a:defRPr>
            </a:pPr>
            <a:r>
              <a:t>SIMPLIFIED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The solution in one minute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417320"/>
            <a:ext cx="513892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59" y="1536192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Independent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4809744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Communities can run their own nodes and choose their federation peers.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3892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382512" y="1536192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Signed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92808"/>
            <a:ext cx="4809744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post is valid because its author signed it, not because one server approved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91839"/>
            <a:ext cx="513892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59" y="3410711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Portable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67327"/>
            <a:ext cx="4809744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client stores the node receipt and can copy it to independent audit-log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39"/>
            <a:ext cx="513892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82512" y="3410711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A8465F"/>
                </a:solidFill>
                <a:latin typeface="Aptos"/>
              </a:defRPr>
            </a:pPr>
            <a:r>
              <a:t>Bridged ISP islands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767327"/>
            <a:ext cx="4809744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trusted multi-homed node relays verified objects across surviving domestic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" y="5330952"/>
            <a:ext cx="9784080" cy="74980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1F2933"/>
                </a:solidFill>
                <a:latin typeface="Aptos"/>
              </a:defRPr>
            </a:pPr>
            <a:r>
              <a:t>If no path remains between two components, each side keeps working locally and queues data. Crossing resumes only when a bridge can reach both sides.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2C6E9B"/>
                </a:solidFill>
                <a:latin typeface="Aptos"/>
              </a:defRPr>
            </a:pPr>
            <a:r>
              <a:t>REACHABILITY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Resilience is a ladder, not a single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389888"/>
            <a:ext cx="713232" cy="713232"/>
          </a:xfrm>
          <a:prstGeom prst="round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89888"/>
            <a:ext cx="6492240" cy="713232"/>
          </a:xfrm>
          <a:prstGeom prst="roundRect">
            <a:avLst/>
          </a:prstGeom>
          <a:solidFill>
            <a:srgbClr val="DDE3E8"/>
          </a:solidFill>
          <a:ln w="12700">
            <a:solidFill>
              <a:srgbClr val="5B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74519" y="1499616"/>
            <a:ext cx="23774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Ordinary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232" y="1508760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5B6770"/>
                </a:solidFill>
                <a:latin typeface="Aptos"/>
              </a:defRPr>
            </a:pPr>
            <a:r>
              <a:t>Global paths are available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33856" y="2121408"/>
            <a:ext cx="0" cy="402336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560320"/>
            <a:ext cx="713232" cy="713232"/>
          </a:xfrm>
          <a:prstGeom prst="round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560320"/>
            <a:ext cx="6492240" cy="713232"/>
          </a:xfrm>
          <a:prstGeom prst="roundRect">
            <a:avLst/>
          </a:prstGeom>
          <a:solidFill>
            <a:srgbClr val="D9E9E4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874519" y="2670048"/>
            <a:ext cx="23774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National partition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679191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5B6770"/>
                </a:solidFill>
                <a:latin typeface="Aptos"/>
              </a:defRPr>
            </a:pPr>
            <a:r>
              <a:t>International transit is withdrawn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33856" y="3291839"/>
            <a:ext cx="0" cy="402337"/>
          </a:xfrm>
          <a:prstGeom prst="line">
            <a:avLst/>
          </a:prstGeom>
          <a:ln w="1905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730752"/>
            <a:ext cx="713232" cy="713232"/>
          </a:xfrm>
          <a:prstGeom prst="roundRect">
            <a:avLst/>
          </a:prstGeom>
          <a:solidFill>
            <a:srgbClr val="2C6E9B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730752"/>
            <a:ext cx="6492240" cy="713232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874519" y="3840480"/>
            <a:ext cx="23774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ISP island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3849624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5B6770"/>
                </a:solidFill>
                <a:latin typeface="Aptos"/>
              </a:defRPr>
            </a:pPr>
            <a:r>
              <a:t>Domestic peering is also cut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3856" y="4462272"/>
            <a:ext cx="0" cy="402336"/>
          </a:xfrm>
          <a:prstGeom prst="line">
            <a:avLst/>
          </a:prstGeom>
          <a:ln w="1905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4901183"/>
            <a:ext cx="713232" cy="713232"/>
          </a:xfrm>
          <a:prstGeom prst="roundRect">
            <a:avLst/>
          </a:prstGeom>
          <a:solidFill>
            <a:srgbClr val="C6873B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901183"/>
            <a:ext cx="6492240" cy="713232"/>
          </a:xfrm>
          <a:prstGeom prst="roundRect">
            <a:avLst/>
          </a:prstGeom>
          <a:solidFill>
            <a:srgbClr val="F3E5D5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874519" y="5010912"/>
            <a:ext cx="23774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Bridged islands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5020055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5B6770"/>
                </a:solidFill>
                <a:latin typeface="Aptos"/>
              </a:defRPr>
            </a:pPr>
            <a:r>
              <a:t>A multi-homed operator joins two islands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8512" y="1828800"/>
            <a:ext cx="2834640" cy="2331720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833104" y="1947672"/>
            <a:ext cx="25054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What is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304288"/>
            <a:ext cx="2505456" cy="17465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The prototype exercises L0 through L3. It does not promise delivery when every physical link is gone.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C6873B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Related systems solve parts of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353312"/>
            <a:ext cx="3017520" cy="5029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System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2191" y="1353312"/>
            <a:ext cx="3017520" cy="5029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What it gives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2592" y="1353312"/>
            <a:ext cx="4462272" cy="5029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Gap for this 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500" b="1">
                <a:solidFill>
                  <a:srgbClr val="1F2933"/>
                </a:solidFill>
                <a:latin typeface="Aptos"/>
              </a:defRPr>
            </a:pPr>
            <a:r>
              <a:t>Publius, Freenet, Tangler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2191" y="1901952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Host takedown and deletion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2592" y="1901952"/>
            <a:ext cx="44622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Readers still need a route to replicas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3017520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500" b="1">
                <a:solidFill>
                  <a:srgbClr val="1F2933"/>
                </a:solidFill>
                <a:latin typeface="Aptos"/>
              </a:defRPr>
            </a:pPr>
            <a:r>
              <a:t>Tor, Snowflake, Telex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2191" y="2752344"/>
            <a:ext cx="3017520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Blocking and circumvention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2592" y="2752344"/>
            <a:ext cx="4462272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They require some path beyond the censor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02736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500" b="1">
                <a:solidFill>
                  <a:srgbClr val="1F2933"/>
                </a:solidFill>
                <a:latin typeface="Aptos"/>
              </a:defRPr>
            </a:pPr>
            <a:r>
              <a:t>Netnews, ActivityPub,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2191" y="3602736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Independent servers and public discussion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2592" y="3602736"/>
            <a:ext cx="44622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No scope-aware bridge with this evidence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53128"/>
            <a:ext cx="3017520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500" b="1">
                <a:solidFill>
                  <a:srgbClr val="1F2933"/>
                </a:solidFill>
                <a:latin typeface="Aptos"/>
              </a:defRPr>
            </a:pPr>
            <a:r>
              <a:t>Nostr, SSB, AT Protocol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2191" y="4453128"/>
            <a:ext cx="3017520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Signed or content-addressed 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4453128"/>
            <a:ext cx="4462272" cy="731520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ptos"/>
              </a:defRPr>
            </a:pPr>
            <a:r>
              <a:t>Different relay, identity or partition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700" b="1" i="0">
                <a:solidFill>
                  <a:srgbClr val="2C6E9B"/>
                </a:solidFill>
                <a:latin typeface="Aptos"/>
              </a:defRPr>
            </a:pPr>
            <a:r>
              <a:t>The contribution is the combination: server federation, no-inbound participation, gossiped evidence and operation across L0–L3.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10332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850" b="0" i="0">
                <a:solidFill>
                  <a:srgbClr val="5B6770"/>
                </a:solidFill>
                <a:latin typeface="Aptos"/>
              </a:defRPr>
            </a:pPr>
            <a:r>
              <a:t>Selected sources: Waldman et al. (2000, 2001); Clarke et al. (2001); RFC 5537; RFC 9162; W3C ActivityPub; Tarr et al. (2019).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2C6E9B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Step 1: the author signs the post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96596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41448"/>
            <a:ext cx="215798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1F2933"/>
                </a:solidFill>
                <a:latin typeface="Aptos"/>
              </a:defRPr>
            </a:pPr>
            <a:r>
              <a:t>Post, vote, moderation action or revocation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3145536" y="2615184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96596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593592" y="2084831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441448"/>
            <a:ext cx="215798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1F2933"/>
                </a:solidFill>
                <a:latin typeface="Aptos"/>
              </a:defRPr>
            </a:pPr>
            <a:r>
              <a:t>One canonical byte representation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007608" y="2615184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96596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1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41448"/>
            <a:ext cx="215798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1F2933"/>
                </a:solidFill>
                <a:latin typeface="Aptos"/>
              </a:defRPr>
            </a:pPr>
            <a:r>
              <a:t>Ed25519 signature covers those bytes</a:t>
            </a:r>
          </a:p>
        </p:txBody>
      </p:sp>
      <p:sp>
        <p:nvSpPr>
          <p:cNvPr id="16" name="Chevron 15"/>
          <p:cNvSpPr/>
          <p:nvPr/>
        </p:nvSpPr>
        <p:spPr>
          <a:xfrm>
            <a:off x="8869680" y="2615184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53144" y="1965960"/>
            <a:ext cx="24871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317736" y="2084831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A8465F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441448"/>
            <a:ext cx="2157984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0" i="0">
                <a:solidFill>
                  <a:srgbClr val="1F2933"/>
                </a:solidFill>
                <a:latin typeface="Aptos"/>
              </a:defRPr>
            </a:pPr>
            <a:r>
              <a:t>SHA-256 content ID comes from the same bytes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069080"/>
            <a:ext cx="3840480" cy="65836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Aptos"/>
              </a:defRPr>
            </a:pPr>
            <a:r>
              <a:t>Every feature enters through the same write endpoint.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4069080"/>
            <a:ext cx="3840480" cy="658368"/>
          </a:xfrm>
          <a:prstGeom prst="roundRect">
            <a:avLst/>
          </a:prstGeom>
          <a:solidFill>
            <a:srgbClr val="E7F0ED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Aptos"/>
              </a:defRPr>
            </a:pPr>
            <a:r>
              <a:t>A relay cannot alter or re-encode the signed bytes.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100" b="1" i="0">
                <a:solidFill>
                  <a:srgbClr val="1F2933"/>
                </a:solidFill>
                <a:latin typeface="Aptos"/>
              </a:defRPr>
            </a:pPr>
            <a:r>
              <a:t>No email address, phone number or password is required for a pseudonym.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10332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850" b="0" i="0">
                <a:solidFill>
                  <a:srgbClr val="5B6770"/>
                </a:solidFill>
                <a:latin typeface="Aptos"/>
              </a:defRPr>
            </a:pPr>
            <a:r>
              <a:t>Methods: RFC 8032 Ed25519; deterministic protobuf profile; cross-language conformance vectors.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3F8F7A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Step 2: every write passes the same 19 checks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536192"/>
            <a:ext cx="4572000" cy="475488"/>
          </a:xfrm>
          <a:prstGeom prst="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1–12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4572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67512" y="2221992"/>
            <a:ext cx="42428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3F8F7A"/>
                </a:solidFill>
                <a:latin typeface="Aptos"/>
              </a:defRPr>
            </a:pPr>
            <a:r>
              <a:t>Reject before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06624"/>
            <a:ext cx="4242816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50" b="0" i="0">
                <a:solidFill>
                  <a:srgbClr val="1F2933"/>
                </a:solidFill>
                <a:latin typeface="Aptos"/>
              </a:defRPr>
            </a:pPr>
            <a:r>
              <a:t>size, canonical parse, domain, clock, signature, certificate, dedupe, replay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59" y="1536192"/>
            <a:ext cx="2286000" cy="47548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13–15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59" y="2011680"/>
            <a:ext cx="2286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30951" y="2221992"/>
            <a:ext cx="19568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5B6770"/>
                </a:solidFill>
                <a:latin typeface="Aptos"/>
              </a:defRPr>
            </a:pPr>
            <a:r>
              <a:t>Admission and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1" y="2706624"/>
            <a:ext cx="1956816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50" b="0" i="0">
                <a:solidFill>
                  <a:srgbClr val="1F2933"/>
                </a:solidFill>
                <a:latin typeface="Aptos"/>
              </a:defRPr>
            </a:pPr>
            <a:r>
              <a:t>anti-abuse, authorisation, body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1536192"/>
            <a:ext cx="2194560" cy="475488"/>
          </a:xfrm>
          <a:prstGeom prst="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16–17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201168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08392" y="2221992"/>
            <a:ext cx="186537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A8465F"/>
                </a:solidFill>
                <a:latin typeface="Aptos"/>
              </a:defRPr>
            </a:pPr>
            <a:r>
              <a:t>One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706624"/>
            <a:ext cx="1865376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50" b="0" i="0">
                <a:solidFill>
                  <a:srgbClr val="1F2933"/>
                </a:solidFill>
                <a:latin typeface="Aptos"/>
              </a:defRPr>
            </a:pPr>
            <a:r>
              <a:t>apply projection + append Merkle witness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536192"/>
            <a:ext cx="2194560" cy="475488"/>
          </a:xfrm>
          <a:prstGeom prst="rect">
            <a:avLst/>
          </a:prstGeom>
          <a:solidFill>
            <a:srgbClr val="C6873B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18–19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201168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994392" y="2221992"/>
            <a:ext cx="186537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C6873B"/>
                </a:solidFill>
                <a:latin typeface="Aptos"/>
              </a:defRPr>
            </a:pPr>
            <a:r>
              <a:t>Acknowledge and 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2706624"/>
            <a:ext cx="1865376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50" b="0" i="0">
                <a:solidFill>
                  <a:srgbClr val="1F2933"/>
                </a:solidFill>
                <a:latin typeface="Aptos"/>
              </a:defRPr>
            </a:pPr>
            <a:r>
              <a:t>signed receipt + federation fanout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5968"/>
            <a:ext cx="10652760" cy="71323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1F2933"/>
                </a:solidFill>
                <a:latin typeface="Aptos"/>
              </a:defRPr>
            </a:pPr>
            <a:r>
              <a:t>Federated objects repeat every applicable check. Only the origin-specific payment at step 13 is not charged twice.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321808"/>
            <a:ext cx="9784080" cy="786384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Steps 1–12 cannot turn invalid input into database write load.</a:t>
            </a:r>
          </a:p>
          <a:p>
            <a:pPr>
              <a:spcAft>
                <a:spcPts val="7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Steps 16–17 prevent a visible post from existing without a matching log entry.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2C6E9B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Step 3: independent servers exchange verified objects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2000" b="1">
                <a:solidFill>
                  <a:srgbClr val="3F8F7A"/>
                </a:solidFill>
                <a:latin typeface="Aptos"/>
              </a:defRPr>
            </a:pPr>
            <a:r>
              <a:t>Server 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2000" b="1">
                <a:solidFill>
                  <a:srgbClr val="2C6E9B"/>
                </a:solidFill>
                <a:latin typeface="Aptos"/>
              </a:defRPr>
            </a:pPr>
            <a:r>
              <a:t>Server 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2000" b="1">
                <a:solidFill>
                  <a:srgbClr val="C6873B"/>
                </a:solidFill>
                <a:latin typeface="Aptos"/>
              </a:defRPr>
            </a:pPr>
            <a:r>
              <a:t>Server S3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395728"/>
            <a:ext cx="1508760" cy="0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2395728"/>
            <a:ext cx="1508760" cy="0"/>
          </a:xfrm>
          <a:prstGeom prst="line">
            <a:avLst/>
          </a:prstGeom>
          <a:ln w="2540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01568" y="2011680"/>
            <a:ext cx="12984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00" b="1" i="0">
                <a:solidFill>
                  <a:srgbClr val="5B6770"/>
                </a:solidFill>
                <a:latin typeface="Aptos"/>
              </a:defRPr>
            </a:pPr>
            <a:r>
              <a:t>stream + backfill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2011680"/>
            <a:ext cx="12984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00" b="1" i="0">
                <a:solidFill>
                  <a:srgbClr val="5B6770"/>
                </a:solidFill>
                <a:latin typeface="Aptos"/>
              </a:defRPr>
            </a:pPr>
            <a:r>
              <a:t>stream + backfill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03320"/>
            <a:ext cx="513892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2959" y="3822191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Verify again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178808"/>
            <a:ext cx="4809744" cy="4663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Trust changes quota, never validity.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513892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382512" y="3822191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Keep exact bytes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178808"/>
            <a:ext cx="4809744" cy="4663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A peer cannot repair malformed encoding.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00600"/>
            <a:ext cx="513892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2959" y="4919472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Work behind CGNAT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76088"/>
            <a:ext cx="4809744" cy="4663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Outbound drains and requested backfill need no inbound address.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00600"/>
            <a:ext cx="513892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382512" y="4919472"/>
            <a:ext cx="48097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Recover after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276088"/>
            <a:ext cx="4809744" cy="4663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Durable queues and resumable backfill continue after a path returns.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3F8F7A"/>
                </a:solidFill>
                <a:latin typeface="Aptos"/>
              </a:defRPr>
            </a:pPr>
            <a:r>
              <a:t>ALS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Step 4: the audit-log server preserves the receipt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417320"/>
            <a:ext cx="24871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1.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queue signed request</a:t>
            </a:r>
          </a:p>
        </p:txBody>
      </p:sp>
      <p:sp>
        <p:nvSpPr>
          <p:cNvPr id="8" name="Chevron 7"/>
          <p:cNvSpPr/>
          <p:nvPr/>
        </p:nvSpPr>
        <p:spPr>
          <a:xfrm>
            <a:off x="3145536" y="1847088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9856" y="1417320"/>
            <a:ext cx="24871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584448" y="1536192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2.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89280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validate and commit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98464" y="1847088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2784" y="1417320"/>
            <a:ext cx="24871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3.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9280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tree head + proof</a:t>
            </a:r>
          </a:p>
        </p:txBody>
      </p:sp>
      <p:sp>
        <p:nvSpPr>
          <p:cNvPr id="16" name="Chevron 15"/>
          <p:cNvSpPr/>
          <p:nvPr/>
        </p:nvSpPr>
        <p:spPr>
          <a:xfrm>
            <a:off x="8851392" y="1847088"/>
            <a:ext cx="182880" cy="274320"/>
          </a:xfrm>
          <a:prstGeom prst="chevron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5711" y="1417320"/>
            <a:ext cx="248716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90303" y="1536192"/>
            <a:ext cx="215798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4. Certificate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3" y="189280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exact request + receipt</a:t>
            </a:r>
            <a:br/>
            <a:r>
              <a:t>save locally first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532888"/>
            <a:ext cx="0" cy="539496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703320" y="3072384"/>
            <a:ext cx="5532120" cy="0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3320" y="3072384"/>
            <a:ext cx="0" cy="356616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616952" y="3072384"/>
            <a:ext cx="1618488" cy="0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16952" y="3072384"/>
            <a:ext cx="0" cy="356616"/>
          </a:xfrm>
          <a:prstGeom prst="line">
            <a:avLst/>
          </a:prstGeom>
          <a:ln w="2540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40280" y="3429000"/>
            <a:ext cx="2926080" cy="1325880"/>
          </a:xfrm>
          <a:prstGeom prst="roundRect">
            <a:avLst/>
          </a:prstGeom>
          <a:solidFill>
            <a:srgbClr val="E7F0ED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404872" y="3547872"/>
            <a:ext cx="25968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ALS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4872" y="3904487"/>
            <a:ext cx="259689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Recompute IDs, verify signatures and inclusion proof, append hash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429000"/>
            <a:ext cx="2926080" cy="1325880"/>
          </a:xfrm>
          <a:prstGeom prst="roundRect">
            <a:avLst/>
          </a:prstGeom>
          <a:solidFill>
            <a:srgbClr val="E7F0ED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18504" y="3547872"/>
            <a:ext cx="25968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ALS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904487"/>
            <a:ext cx="259689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00" b="0" i="0">
                <a:solidFill>
                  <a:srgbClr val="1F2933"/>
                </a:solidFill>
                <a:latin typeface="Aptos"/>
              </a:defRPr>
            </a:pPr>
            <a:r>
              <a:t>Run the same checks and keep an independent copy.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08592" y="3429000"/>
            <a:ext cx="2240280" cy="1325880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473184" y="3547872"/>
            <a:ext cx="19110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Issuing 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3904487"/>
            <a:ext cx="191109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300" b="0" i="0">
                <a:solidFill>
                  <a:srgbClr val="1F2933"/>
                </a:solidFill>
                <a:latin typeface="Aptos"/>
              </a:defRPr>
            </a:pPr>
            <a:r>
              <a:t>/status reports online, hidden, deleted or wrong-server status.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230368"/>
            <a:ext cx="10652760" cy="658368"/>
          </a:xfrm>
          <a:prstGeom prst="roundRect">
            <a:avLst/>
          </a:prstGeom>
          <a:solidFill>
            <a:srgbClr val="F3E8EB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600" b="1">
                <a:solidFill>
                  <a:srgbClr val="1F2933"/>
                </a:solidFill>
                <a:latin typeface="Aptos"/>
              </a:defRPr>
            </a:pPr>
            <a:r>
              <a:t>The ALS proves prior acknowledgement. It does not moderate, report live state, guarantee storage or recover a body after every copy is gone.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98464"/>
            <a:ext cx="10195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300" b="0" i="0">
                <a:solidFill>
                  <a:srgbClr val="5B6770"/>
                </a:solidFill>
                <a:latin typeface="Aptos"/>
              </a:defRPr>
            </a:pPr>
            <a:r>
              <a:t>Direct-message certificates stay local to avoid creating a timestamped social graph.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A8465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Step 5: visible moderation, local identity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417320"/>
            <a:ext cx="3429000" cy="1298448"/>
          </a:xfrm>
          <a:prstGeom prst="roundRect">
            <a:avLst/>
          </a:prstGeom>
          <a:solidFill>
            <a:srgbClr val="F3E8EB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309981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A8465F"/>
                </a:solidFill>
                <a:latin typeface="Aptos"/>
              </a:defRPr>
            </a:pPr>
            <a:r>
              <a:t>Moderation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8"/>
            <a:ext cx="309981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moderator signs an additive action. Clients can show the policy and its reason.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29000" cy="1298448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35424" y="1536192"/>
            <a:ext cx="309981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Deletion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92808"/>
            <a:ext cx="309981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signed tombstone records deletion. Receipts still prove prior acknowledgement.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417320"/>
            <a:ext cx="3429000" cy="129844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0456" y="1536192"/>
            <a:ext cx="309981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892808"/>
            <a:ext cx="309981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user may move to another server with a different policy and still read federated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1" i="0">
                <a:solidFill>
                  <a:srgbClr val="1F2933"/>
                </a:solidFill>
                <a:latin typeface="Aptos"/>
              </a:defRPr>
            </a:pPr>
            <a:r>
              <a:t>One device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999232"/>
            <a:ext cx="2148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3F8F7A"/>
                </a:solidFill>
                <a:latin typeface="Aptos"/>
              </a:defRPr>
            </a:pPr>
            <a:r>
              <a:t>Community A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749039"/>
            <a:ext cx="2148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2C6E9B"/>
                </a:solidFill>
                <a:latin typeface="Aptos"/>
              </a:defRPr>
            </a:pPr>
            <a:r>
              <a:t>Community B 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4498848"/>
            <a:ext cx="2148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C6873B"/>
                </a:solidFill>
                <a:latin typeface="Aptos"/>
              </a:defRPr>
            </a:pPr>
            <a:r>
              <a:t>Community C key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542032" y="3282696"/>
            <a:ext cx="521208" cy="237744"/>
          </a:xfrm>
          <a:prstGeom prst="line">
            <a:avLst/>
          </a:prstGeom>
          <a:ln w="1651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42032" y="3520440"/>
            <a:ext cx="521208" cy="512064"/>
          </a:xfrm>
          <a:prstGeom prst="line">
            <a:avLst/>
          </a:prstGeom>
          <a:ln w="1651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42032" y="3520440"/>
            <a:ext cx="521208" cy="1261872"/>
          </a:xfrm>
          <a:prstGeom prst="line">
            <a:avLst/>
          </a:prstGeom>
          <a:ln w="1651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89320" y="3182112"/>
            <a:ext cx="4983480" cy="1737360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53912" y="3300984"/>
            <a:ext cx="46542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1F2933"/>
                </a:solidFill>
                <a:latin typeface="Aptos"/>
              </a:defRPr>
            </a:pPr>
            <a:r>
              <a:t>Anti-abuse without civil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657600"/>
            <a:ext cx="4654296" cy="11521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800" b="0" i="0">
                <a:solidFill>
                  <a:srgbClr val="1F2933"/>
                </a:solidFill>
                <a:latin typeface="Aptos"/>
              </a:defRPr>
            </a:pPr>
            <a:r>
              <a:t>Proof of work, credits, blind credentials and epoch nullifiers price posting. They limit rate, not the number of identities.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239512"/>
            <a:ext cx="4754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1" i="0">
                <a:solidFill>
                  <a:srgbClr val="A8465F"/>
                </a:solidFill>
                <a:latin typeface="Aptos"/>
              </a:defRPr>
            </a:pPr>
            <a:r>
              <a:t>Honest limit: network observers can still correlate timing and traffic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0332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850" b="0" i="0">
                <a:solidFill>
                  <a:srgbClr val="5B6770"/>
                </a:solidFill>
                <a:latin typeface="Aptos"/>
              </a:defRPr>
            </a:pPr>
            <a:r>
              <a:t>Sources: Dwork and Naor (1993); Chaum (1983); RFC 9576; UN Special Rapporteur on anonymity (2015).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C6873B"/>
                </a:solidFill>
                <a:latin typeface="Aptos"/>
              </a:defRPr>
            </a:pPr>
            <a:r>
              <a:t>METHOD 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Bridge two ISP islands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13232" y="1828800"/>
            <a:ext cx="2148840" cy="1508760"/>
          </a:xfrm>
          <a:prstGeom prst="roundRect">
            <a:avLst/>
          </a:prstGeom>
          <a:solidFill>
            <a:srgbClr val="E7F0ED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2000" b="1">
                <a:solidFill>
                  <a:srgbClr val="1F2933"/>
                </a:solidFill>
                <a:latin typeface="Aptos"/>
              </a:defRPr>
            </a:pPr>
            <a:r>
              <a:t>ISP island A</a:t>
            </a:r>
            <a:br/>
            <a:r>
              <a:t>AS 64501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0288" y="1600200"/>
            <a:ext cx="3017520" cy="1965960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900" b="1">
                <a:solidFill>
                  <a:srgbClr val="1F2933"/>
                </a:solidFill>
                <a:latin typeface="Aptos"/>
              </a:defRPr>
            </a:pPr>
            <a:r>
              <a:t>Bridge</a:t>
            </a:r>
            <a:br/>
            <a:r>
              <a:t>eth0 → island A</a:t>
            </a:r>
            <a:br/>
            <a:r>
              <a:t>eth1 → island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1828800"/>
            <a:ext cx="2148840" cy="150876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2000" b="1">
                <a:solidFill>
                  <a:srgbClr val="1F2933"/>
                </a:solidFill>
                <a:latin typeface="Aptos"/>
              </a:defRPr>
            </a:pPr>
            <a:r>
              <a:t>ISP island B</a:t>
            </a:r>
            <a:br/>
            <a:r>
              <a:t>AS 64502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62072" y="2578608"/>
            <a:ext cx="1728216" cy="0"/>
          </a:xfrm>
          <a:prstGeom prst="line">
            <a:avLst/>
          </a:prstGeom>
          <a:ln w="31750">
            <a:solidFill>
              <a:srgbClr val="3F8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07808" y="2578608"/>
            <a:ext cx="1700784" cy="0"/>
          </a:xfrm>
          <a:prstGeom prst="line">
            <a:avLst/>
          </a:prstGeom>
          <a:ln w="31750">
            <a:solidFill>
              <a:srgbClr val="2C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2584" y="1179576"/>
            <a:ext cx="2834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1" i="0">
                <a:solidFill>
                  <a:srgbClr val="A8465F"/>
                </a:solidFill>
                <a:latin typeface="Aptos"/>
              </a:defRPr>
            </a:pPr>
            <a:r>
              <a:t>direct exchange cut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1435608"/>
            <a:ext cx="8503920" cy="0"/>
          </a:xfrm>
          <a:prstGeom prst="line">
            <a:avLst/>
          </a:prstGeom>
          <a:ln w="15240">
            <a:solidFill>
              <a:srgbClr val="5B67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70448" y="1179576"/>
            <a:ext cx="4114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700" b="1" i="0">
                <a:solidFill>
                  <a:srgbClr val="A8465F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10424160" cy="1572768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Aptos"/>
              </a:defRPr>
            </a:pPr>
            <a:r>
              <a:t>• Trusted on both sides</a:t>
            </a:r>
          </a:p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Aptos"/>
              </a:defRPr>
            </a:pPr>
            <a:r>
              <a:t>• Outbound sockets bound to the correct source interface</a:t>
            </a:r>
          </a:p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Aptos"/>
              </a:defRPr>
            </a:pPr>
            <a:r>
              <a:t>• Quota counted across the uplink pair</a:t>
            </a:r>
          </a:p>
          <a:p>
            <a:pPr>
              <a:spcAft>
                <a:spcPts val="500"/>
              </a:spcAft>
              <a:defRPr sz="1700">
                <a:solidFill>
                  <a:srgbClr val="1F2933"/>
                </a:solidFill>
                <a:latin typeface="Aptos"/>
              </a:defRPr>
            </a:pPr>
            <a:r>
              <a:t>• Half the grant reserved so bulk forum traffic cannot starve urgent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760720"/>
            <a:ext cx="8503920" cy="50292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1F2933"/>
                </a:solidFill>
                <a:latin typeface="Aptos"/>
              </a:defRPr>
            </a:pPr>
            <a:r>
              <a:t>A bridge is a relay policy after verification, not a twentieth validation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3F8F7A"/>
                </a:solidFill>
                <a:latin typeface="Aptos"/>
              </a:defRPr>
            </a:pPr>
            <a:r>
              <a:t>MEASURED CROSSING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After the cut, dependencies cross in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9808" y="1417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Island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417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Verifying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1417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Island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1" i="0">
                <a:solidFill>
                  <a:srgbClr val="1F2933"/>
                </a:solidFill>
                <a:latin typeface="Aptos"/>
              </a:defRPr>
            </a:pPr>
            <a:r>
              <a:t>Author certificate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993392"/>
            <a:ext cx="7040880" cy="475488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2761488" y="1993392"/>
            <a:ext cx="1676400" cy="475488"/>
          </a:xfrm>
          <a:prstGeom prst="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985248" y="2084832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0.5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1" i="0">
                <a:solidFill>
                  <a:srgbClr val="1F2933"/>
                </a:solidFill>
                <a:latin typeface="Aptos"/>
              </a:defRPr>
            </a:pPr>
            <a:r>
              <a:t>Community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862072"/>
            <a:ext cx="7040880" cy="475488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2761488" y="2862072"/>
            <a:ext cx="4023360" cy="475488"/>
          </a:xfrm>
          <a:prstGeom prst="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985248" y="2953512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1.2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40480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500" b="1" i="0">
                <a:solidFill>
                  <a:srgbClr val="1F2933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3730752"/>
            <a:ext cx="7040880" cy="475488"/>
          </a:xfrm>
          <a:prstGeom prst="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2761488" y="3730752"/>
            <a:ext cx="7040880" cy="475488"/>
          </a:xfrm>
          <a:prstGeom prst="rect">
            <a:avLst/>
          </a:prstGeom>
          <a:solidFill>
            <a:srgbClr val="2C6E9B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985248" y="3822191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2.1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590288"/>
            <a:ext cx="2286000" cy="457200"/>
          </a:xfrm>
          <a:prstGeom prst="round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First deployed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38928"/>
            <a:ext cx="2286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600" b="1" i="0">
                <a:solidFill>
                  <a:srgbClr val="A8465F"/>
                </a:solidFill>
                <a:latin typeface="Aptos"/>
              </a:defRPr>
            </a:pPr>
            <a:r>
              <a:t>407.6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590288"/>
            <a:ext cx="2286000" cy="457200"/>
          </a:xfrm>
          <a:prstGeom prst="round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5138928"/>
            <a:ext cx="2880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600" b="0" i="0">
                <a:solidFill>
                  <a:srgbClr val="1F2933"/>
                </a:solidFill>
                <a:latin typeface="Aptos"/>
              </a:defRPr>
            </a:pPr>
            <a:r>
              <a:t>one blackholed peer blocked a serial drain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590288"/>
            <a:ext cx="2286000" cy="457200"/>
          </a:xfrm>
          <a:prstGeom prst="round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After the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138928"/>
            <a:ext cx="2286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600" b="1" i="0">
                <a:solidFill>
                  <a:srgbClr val="3F8F7A"/>
                </a:solidFill>
                <a:latin typeface="Aptos"/>
              </a:defRPr>
            </a:pPr>
            <a:r>
              <a:t>2.1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5138928"/>
            <a:ext cx="1965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500" b="0" i="0">
                <a:solidFill>
                  <a:srgbClr val="1F2933"/>
                </a:solidFill>
                <a:latin typeface="Aptos"/>
              </a:defRPr>
            </a:pPr>
            <a:r>
              <a:t>Concurrent per-peer drains with deadlines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A8465F"/>
                </a:solidFill>
                <a:latin typeface="Aptos"/>
              </a:defRPr>
            </a:pPr>
            <a:r>
              <a:t>THREAT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What the design resists, and what it does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353312"/>
            <a:ext cx="5349240" cy="484632"/>
          </a:xfrm>
          <a:prstGeom prst="rect">
            <a:avLst/>
          </a:prstGeom>
          <a:solidFill>
            <a:srgbClr val="3F8F7A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Resisted or bounded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1344" y="1353312"/>
            <a:ext cx="5349240" cy="484632"/>
          </a:xfrm>
          <a:prstGeom prst="rect">
            <a:avLst/>
          </a:prstGeom>
          <a:solidFill>
            <a:srgbClr val="A8465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Not solved by this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5074920" cy="35204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Post modification: author signature and content ID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Deletion after acknowledgement: client and ALS retain receipts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Opaque moderation: signed actions and visible local policy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Invalid-input write amplification: no-write validation prefix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One failed ISP path: ranked paths, bridge and durable retry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Peer equivocation: signed, gossiped tree heads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2011680"/>
            <a:ext cx="5074920" cy="352044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traffic-analysis or stylometry resistance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safety after endpoint or signing-key compromise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guarantee if every link or independent copy disappears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identity-based Sybil prevention; posting cost only bounds rate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fair or universal moderation policy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ptos"/>
              </a:defRPr>
            </a:pPr>
            <a:r>
              <a:t>• No guarantee against a compromised majority of peers or auditors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5742432"/>
            <a:ext cx="9555480" cy="502920"/>
          </a:xfrm>
          <a:prstGeom prst="roundRect">
            <a:avLst/>
          </a:prstGeom>
          <a:solidFill>
            <a:srgbClr val="F5EEE4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600" b="1">
                <a:solidFill>
                  <a:srgbClr val="1F2933"/>
                </a:solidFill>
                <a:latin typeface="Aptos"/>
              </a:defRPr>
            </a:pPr>
            <a:r>
              <a:t>Condition for crossing: at least one authorised bridge must still reach both components.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2C6E9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Prototype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3716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23865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500" b="1" i="0">
                <a:solidFill>
                  <a:srgbClr val="3F8F7A"/>
                </a:solidFill>
                <a:latin typeface="Aptos"/>
              </a:defRPr>
            </a:pPr>
            <a: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48256"/>
            <a:ext cx="23865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1" i="0">
                <a:solidFill>
                  <a:srgbClr val="1F2933"/>
                </a:solidFill>
                <a:latin typeface="Aptos"/>
              </a:defRPr>
            </a:pPr>
            <a:r>
              <a:t>canonical vectors 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14016"/>
            <a:ext cx="23865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50" b="0" i="0">
                <a:solidFill>
                  <a:srgbClr val="5B6770"/>
                </a:solidFill>
                <a:latin typeface="Aptos"/>
              </a:defRPr>
            </a:pPr>
            <a:r>
              <a:t>TypeScript, Rust, 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3716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865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500" b="1" i="0">
                <a:solidFill>
                  <a:srgbClr val="2C6E9B"/>
                </a:solidFill>
                <a:latin typeface="Aptos"/>
              </a:defRPr>
            </a:pPr>
            <a:r>
              <a:t>0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48256"/>
            <a:ext cx="23865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1" i="0">
                <a:solidFill>
                  <a:srgbClr val="1F2933"/>
                </a:solidFill>
                <a:latin typeface="Aptos"/>
              </a:defRPr>
            </a:pPr>
            <a:r>
              <a:t>200 posts reached hop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14016"/>
            <a:ext cx="23865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50" b="0" i="0">
                <a:solidFill>
                  <a:srgbClr val="5B6770"/>
                </a:solidFill>
                <a:latin typeface="Aptos"/>
              </a:defRPr>
            </a:pPr>
            <a:r>
              <a:t>median 4.125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3716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28232" y="1572768"/>
            <a:ext cx="23865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500" b="1" i="0">
                <a:solidFill>
                  <a:srgbClr val="C6873B"/>
                </a:solidFill>
                <a:latin typeface="Aptos"/>
              </a:defRPr>
            </a:pPr>
            <a:r>
              <a:t>2.1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048256"/>
            <a:ext cx="23865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1" i="0">
                <a:solidFill>
                  <a:srgbClr val="1F2933"/>
                </a:solidFill>
                <a:latin typeface="Aptos"/>
              </a:defRPr>
            </a:pPr>
            <a:r>
              <a:t>cut-path post rendered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14016"/>
            <a:ext cx="23865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50" b="0" i="0">
                <a:solidFill>
                  <a:srgbClr val="5B6770"/>
                </a:solidFill>
                <a:latin typeface="Aptos"/>
              </a:defRPr>
            </a:pPr>
            <a:r>
              <a:t>after dependencies crossed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13716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90304" y="1572768"/>
            <a:ext cx="23865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500" b="1" i="0">
                <a:solidFill>
                  <a:srgbClr val="A8465F"/>
                </a:solidFill>
                <a:latin typeface="Aptos"/>
              </a:defRPr>
            </a:pPr>
            <a:r>
              <a:t>730 req/s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2048256"/>
            <a:ext cx="23865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1" i="0">
                <a:solidFill>
                  <a:srgbClr val="1F2933"/>
                </a:solidFill>
                <a:latin typeface="Aptos"/>
              </a:defRPr>
            </a:pPr>
            <a:r>
              <a:t>invalid flood 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414016"/>
            <a:ext cx="23865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150" b="0" i="0">
                <a:solidFill>
                  <a:srgbClr val="5B6770"/>
                </a:solidFill>
                <a:latin typeface="Aptos"/>
              </a:defRPr>
            </a:pPr>
            <a:r>
              <a:t>zero database writes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749808" y="3337560"/>
          <a:ext cx="6537960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726679" y="3364992"/>
            <a:ext cx="3611880" cy="1481328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891271" y="3483864"/>
            <a:ext cx="3282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1F2933"/>
                </a:solidFill>
                <a:latin typeface="Aptos"/>
              </a:defRPr>
            </a:pPr>
            <a:r>
              <a:t>Small-node footprint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3840480"/>
            <a:ext cx="3282696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62 MiB idle node</a:t>
            </a:r>
            <a:br/>
            <a:r>
              <a:t>233 MiB under crossing</a:t>
            </a:r>
            <a:br/>
            <a:r>
              <a:t>≈384 MiB node + database + 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846320"/>
            <a:ext cx="3611880" cy="126187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891271" y="4965192"/>
            <a:ext cx="3282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Wire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5321808"/>
            <a:ext cx="328269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450" b="0" i="0">
                <a:solidFill>
                  <a:srgbClr val="1F2933"/>
                </a:solidFill>
                <a:latin typeface="Aptos"/>
              </a:defRPr>
            </a:pPr>
            <a:r>
              <a:t>155 B check-in</a:t>
            </a:r>
            <a:br/>
            <a:r>
              <a:t>220 B forum post</a:t>
            </a:r>
            <a:br/>
            <a:r>
              <a:t>243 B Bangla broadcast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000" b="1" i="0">
                <a:solidFill>
                  <a:srgbClr val="3F8F7A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2800" b="1" i="0">
                <a:solidFill>
                  <a:srgbClr val="1F2933"/>
                </a:solidFill>
                <a:latin typeface="Aptos"/>
              </a:defRPr>
            </a:pPr>
            <a:r>
              <a:t>What this project establishes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61288"/>
            <a:ext cx="11000232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1444752"/>
            <a:ext cx="104698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2500" b="1" i="0">
                <a:solidFill>
                  <a:srgbClr val="1F2933"/>
                </a:solidFill>
                <a:latin typeface="Aptos"/>
              </a:defRPr>
            </a:pPr>
            <a:r>
              <a:t>A forum can continue inside surviving domestic IP components without trusting one platform or one administrator.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889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2959" y="2907791"/>
            <a:ext cx="3191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3F8F7A"/>
                </a:solidFill>
                <a:latin typeface="Aptos"/>
              </a:defRPr>
            </a:pPr>
            <a:r>
              <a:t>Local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64408"/>
            <a:ext cx="3191256" cy="9235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Each reachable island can publish, read and moderate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7889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45151" y="2907791"/>
            <a:ext cx="3191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2C6E9B"/>
                </a:solidFill>
                <a:latin typeface="Aptos"/>
              </a:defRPr>
            </a:pPr>
            <a:r>
              <a:t>Verifiable 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3264408"/>
            <a:ext cx="3191256" cy="9235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Signed bytes, receipts and audit copies make tampering visible.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278892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8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700" b="0">
                <a:solidFill>
                  <a:srgbClr val="1F2933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67344" y="2907791"/>
            <a:ext cx="319125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600" b="1" i="0">
                <a:solidFill>
                  <a:srgbClr val="C6873B"/>
                </a:solidFill>
                <a:latin typeface="Aptos"/>
              </a:defRPr>
            </a:pPr>
            <a:r>
              <a:t>Conditional crossing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264408"/>
            <a:ext cx="3191256" cy="9235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defRPr sz="1700" b="0" i="0">
                <a:solidFill>
                  <a:srgbClr val="1F2933"/>
                </a:solidFill>
                <a:latin typeface="Aptos"/>
              </a:defRPr>
            </a:pPr>
            <a:r>
              <a:t>A trusted bridge reconnects islands only while it can reach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9921240" cy="804672"/>
          </a:xfrm>
          <a:prstGeom prst="roundRect">
            <a:avLst/>
          </a:prstGeom>
          <a:solidFill>
            <a:srgbClr val="F3E8EB"/>
          </a:solidFill>
          <a:ln w="12700">
            <a:solidFill>
              <a:srgbClr val="A8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Aptos"/>
              </a:defRPr>
            </a:pPr>
            <a:r>
              <a:t>Next evidence needed: a real multi-ISP field trial with separate clocks, independent auditors and measured censor interference.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998464"/>
            <a:ext cx="9829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defRPr sz="1400" b="0" i="0">
                <a:solidFill>
                  <a:srgbClr val="5B6770"/>
                </a:solidFill>
                <a:latin typeface="Aptos"/>
              </a:defRPr>
            </a:pPr>
            <a:r>
              <a:t>No mesh claim. No absolute anonymity claim. No delivery claim when every path is gone.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defRPr sz="900" b="0" i="0">
                <a:solidFill>
                  <a:srgbClr val="5B67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Islands of Reach</dc:title>
  <dc:subject>Censorship-resistant federated forum for national internet blackouts</dc:subject>
  <dc:creator>Islands of Reach project</dc:creator>
  <cp:keywords>federation, censorship resistance, audit log, internet blackout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